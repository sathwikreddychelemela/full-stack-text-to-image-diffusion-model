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BeeZee" panose="02000000000000000000" pitchFamily="2" charset="0"/>
      <p:regular r:id="rId19"/>
    </p:embeddedFont>
    <p:embeddedFont>
      <p:font typeface="Ansam" pitchFamily="2" charset="-78"/>
      <p:regular r:id="rId20"/>
    </p:embeddedFont>
    <p:embeddedFont>
      <p:font typeface="Chunk Five" pitchFamily="2" charset="0"/>
      <p:regular r:id="rId21"/>
    </p:embeddedFont>
    <p:embeddedFont>
      <p:font typeface="Poppins" pitchFamily="2" charset="77"/>
      <p:regular r:id="rId22"/>
    </p:embeddedFont>
    <p:embeddedFont>
      <p:font typeface="Poppins Bold" pitchFamily="2" charset="77"/>
      <p:regular r:id="rId23"/>
      <p:bold r:id="rId24"/>
    </p:embeddedFont>
    <p:embeddedFont>
      <p:font typeface="Poppins Italics" pitchFamily="2" charset="77"/>
      <p:regular r:id="rId25"/>
      <p:italic r:id="rId26"/>
    </p:embeddedFont>
    <p:embeddedFont>
      <p:font typeface="Raleway" pitchFamily="2" charset="77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94620" autoAdjust="0"/>
  </p:normalViewPr>
  <p:slideViewPr>
    <p:cSldViewPr>
      <p:cViewPr varScale="1">
        <p:scale>
          <a:sx n="62" d="100"/>
          <a:sy n="62" d="100"/>
        </p:scale>
        <p:origin x="216" y="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1514">
            <a:off x="-2355018" y="7002277"/>
            <a:ext cx="6767437" cy="4646765"/>
          </a:xfrm>
          <a:custGeom>
            <a:avLst/>
            <a:gdLst/>
            <a:ahLst/>
            <a:cxnLst/>
            <a:rect l="l" t="t" r="r" b="b"/>
            <a:pathLst>
              <a:path w="6767437" h="4646765">
                <a:moveTo>
                  <a:pt x="0" y="0"/>
                </a:moveTo>
                <a:lnTo>
                  <a:pt x="6767436" y="0"/>
                </a:lnTo>
                <a:lnTo>
                  <a:pt x="6767436" y="4646766"/>
                </a:lnTo>
                <a:lnTo>
                  <a:pt x="0" y="464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77342">
            <a:off x="14713844" y="433651"/>
            <a:ext cx="5090912" cy="5649476"/>
          </a:xfrm>
          <a:custGeom>
            <a:avLst/>
            <a:gdLst/>
            <a:ahLst/>
            <a:cxnLst/>
            <a:rect l="l" t="t" r="r" b="b"/>
            <a:pathLst>
              <a:path w="5090912" h="5649476">
                <a:moveTo>
                  <a:pt x="0" y="0"/>
                </a:moveTo>
                <a:lnTo>
                  <a:pt x="5090912" y="0"/>
                </a:lnTo>
                <a:lnTo>
                  <a:pt x="5090912" y="5649476"/>
                </a:lnTo>
                <a:lnTo>
                  <a:pt x="0" y="5649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-1039012" y="430244"/>
            <a:ext cx="4088237" cy="4016693"/>
          </a:xfrm>
          <a:custGeom>
            <a:avLst/>
            <a:gdLst/>
            <a:ahLst/>
            <a:cxnLst/>
            <a:rect l="l" t="t" r="r" b="b"/>
            <a:pathLst>
              <a:path w="4088237" h="4016693">
                <a:moveTo>
                  <a:pt x="4088237" y="0"/>
                </a:moveTo>
                <a:lnTo>
                  <a:pt x="0" y="0"/>
                </a:lnTo>
                <a:lnTo>
                  <a:pt x="0" y="4016693"/>
                </a:lnTo>
                <a:lnTo>
                  <a:pt x="4088237" y="4016693"/>
                </a:lnTo>
                <a:lnTo>
                  <a:pt x="408823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698048" y="819150"/>
            <a:ext cx="7566697" cy="39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</a:pPr>
            <a:r>
              <a:rPr lang="en-US" sz="5474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LATENT DIFFUSION BASED IMAGE GENERATION </a:t>
            </a:r>
          </a:p>
          <a:p>
            <a:pPr algn="ctr">
              <a:lnSpc>
                <a:spcPts val="7664"/>
              </a:lnSpc>
            </a:pPr>
            <a:r>
              <a:rPr lang="en-US" sz="5474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WEB 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47378" y="7872206"/>
            <a:ext cx="3597469" cy="220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5"/>
              </a:lnSpc>
            </a:pPr>
            <a:r>
              <a:rPr lang="en-US" sz="2068" spc="61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SATHWIK REDDY CHELEMELA</a:t>
            </a:r>
          </a:p>
          <a:p>
            <a:pPr algn="ctr">
              <a:lnSpc>
                <a:spcPts val="2895"/>
              </a:lnSpc>
            </a:pPr>
            <a:endParaRPr lang="en-US" sz="2068" spc="610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895"/>
              </a:lnSpc>
            </a:pPr>
            <a:r>
              <a:rPr lang="en-US" sz="2068" spc="61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YAYAN LI </a:t>
            </a:r>
          </a:p>
          <a:p>
            <a:pPr algn="ctr">
              <a:lnSpc>
                <a:spcPts val="2895"/>
              </a:lnSpc>
            </a:pPr>
            <a:endParaRPr lang="en-US" sz="2068" spc="610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895"/>
              </a:lnSpc>
            </a:pPr>
            <a:r>
              <a:rPr lang="en-US" sz="2068" spc="61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VISHAD MEHTA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8202" y="5630698"/>
            <a:ext cx="11127086" cy="146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</a:pPr>
            <a:r>
              <a:rPr lang="en-US" sz="2738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This presentation outlines the process of building a full-stack text-to-image Generative AI web application. The app will be powered by Stable Diffusion, a powerful deep learning model.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03627" y="461824"/>
            <a:ext cx="7252203" cy="15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17"/>
              </a:lnSpc>
              <a:spcBef>
                <a:spcPct val="0"/>
              </a:spcBef>
            </a:pPr>
            <a:r>
              <a:rPr lang="en-US" sz="9298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OBJECTIVE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05775" y="5668728"/>
            <a:ext cx="7482338" cy="4198076"/>
            <a:chOff x="0" y="0"/>
            <a:chExt cx="9976451" cy="5597435"/>
          </a:xfrm>
        </p:grpSpPr>
        <p:grpSp>
          <p:nvGrpSpPr>
            <p:cNvPr id="4" name="Group 4"/>
            <p:cNvGrpSpPr/>
            <p:nvPr/>
          </p:nvGrpSpPr>
          <p:grpSpPr>
            <a:xfrm>
              <a:off x="429282" y="1492840"/>
              <a:ext cx="9547169" cy="4104595"/>
              <a:chOff x="0" y="0"/>
              <a:chExt cx="1885860" cy="81078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885860" cy="810784"/>
              </a:xfrm>
              <a:custGeom>
                <a:avLst/>
                <a:gdLst/>
                <a:ahLst/>
                <a:cxnLst/>
                <a:rect l="l" t="t" r="r" b="b"/>
                <a:pathLst>
                  <a:path w="1885860" h="810784">
                    <a:moveTo>
                      <a:pt x="0" y="0"/>
                    </a:moveTo>
                    <a:lnTo>
                      <a:pt x="1885860" y="0"/>
                    </a:lnTo>
                    <a:lnTo>
                      <a:pt x="1885860" y="810784"/>
                    </a:lnTo>
                    <a:lnTo>
                      <a:pt x="0" y="8107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EF9E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885860" cy="8679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57797" y="3427350"/>
              <a:ext cx="9090138" cy="158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2"/>
                </a:lnSpc>
              </a:pPr>
              <a:r>
                <a:rPr lang="en-US" sz="2251">
                  <a:solidFill>
                    <a:srgbClr val="FEF9E4"/>
                  </a:solidFill>
                  <a:latin typeface="Poppins"/>
                  <a:ea typeface="Poppins"/>
                  <a:cs typeface="Poppins"/>
                  <a:sym typeface="Poppins"/>
                </a:rPr>
                <a:t>Name: ceyda/smithsonian_butterflies </a:t>
              </a:r>
            </a:p>
            <a:p>
              <a:pPr algn="ctr">
                <a:lnSpc>
                  <a:spcPts val="3152"/>
                </a:lnSpc>
              </a:pPr>
              <a:r>
                <a:rPr lang="en-US" sz="2251">
                  <a:solidFill>
                    <a:srgbClr val="FEF9E4"/>
                  </a:solidFill>
                  <a:latin typeface="Poppins"/>
                  <a:ea typeface="Poppins"/>
                  <a:cs typeface="Poppins"/>
                  <a:sym typeface="Poppins"/>
                </a:rPr>
                <a:t>Size: 9213 images </a:t>
              </a:r>
            </a:p>
            <a:p>
              <a:pPr algn="ctr">
                <a:lnSpc>
                  <a:spcPts val="3152"/>
                </a:lnSpc>
                <a:spcBef>
                  <a:spcPct val="0"/>
                </a:spcBef>
              </a:pPr>
              <a:r>
                <a:rPr lang="en-US" sz="2251">
                  <a:solidFill>
                    <a:srgbClr val="FEF9E4"/>
                  </a:solidFill>
                  <a:latin typeface="Poppins"/>
                  <a:ea typeface="Poppins"/>
                  <a:cs typeface="Poppins"/>
                  <a:sym typeface="Poppins"/>
                </a:rPr>
                <a:t>Format: Image-caption pairs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07467" y="1988755"/>
              <a:ext cx="5390799" cy="64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32"/>
                </a:lnSpc>
                <a:spcBef>
                  <a:spcPct val="0"/>
                </a:spcBef>
              </a:pPr>
              <a:r>
                <a:rPr lang="en-US" sz="2737">
                  <a:solidFill>
                    <a:srgbClr val="FEF9E4"/>
                  </a:solidFill>
                  <a:latin typeface="Poppins"/>
                  <a:ea typeface="Poppins"/>
                  <a:cs typeface="Poppins"/>
                  <a:sym typeface="Poppins"/>
                </a:rPr>
                <a:t>Dataset Details: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909446" flipH="1">
              <a:off x="161080" y="164840"/>
              <a:ext cx="1450466" cy="1425083"/>
            </a:xfrm>
            <a:custGeom>
              <a:avLst/>
              <a:gdLst/>
              <a:ahLst/>
              <a:cxnLst/>
              <a:rect l="l" t="t" r="r" b="b"/>
              <a:pathLst>
                <a:path w="1450466" h="1425083">
                  <a:moveTo>
                    <a:pt x="1450465" y="0"/>
                  </a:moveTo>
                  <a:lnTo>
                    <a:pt x="0" y="0"/>
                  </a:lnTo>
                  <a:lnTo>
                    <a:pt x="0" y="1425082"/>
                  </a:lnTo>
                  <a:lnTo>
                    <a:pt x="1450465" y="1425082"/>
                  </a:lnTo>
                  <a:lnTo>
                    <a:pt x="145046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24550" y="2747417"/>
            <a:ext cx="13410357" cy="2445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The project involves fine-tuning only the diffusion model on a custom image-caption dataset while keeping the pre-trained text and image encoders frozen, ensuring parameter-efficient adaptation. The final application will include both a user-friendly front-end interface and a scalable back-end pipeline for inference.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63694" y="6788359"/>
            <a:ext cx="6988990" cy="3078446"/>
            <a:chOff x="0" y="0"/>
            <a:chExt cx="1840722" cy="8107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40722" cy="810784"/>
            </a:xfrm>
            <a:custGeom>
              <a:avLst/>
              <a:gdLst/>
              <a:ahLst/>
              <a:cxnLst/>
              <a:rect l="l" t="t" r="r" b="b"/>
              <a:pathLst>
                <a:path w="1840722" h="810784">
                  <a:moveTo>
                    <a:pt x="0" y="0"/>
                  </a:moveTo>
                  <a:lnTo>
                    <a:pt x="1840722" y="0"/>
                  </a:lnTo>
                  <a:lnTo>
                    <a:pt x="1840722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840722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963694" y="8051414"/>
            <a:ext cx="6817604" cy="80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RGB Images 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Metadata Fields (name, region, stage)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58264" y="7138863"/>
            <a:ext cx="4043099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</p:txBody>
      </p:sp>
      <p:sp>
        <p:nvSpPr>
          <p:cNvPr id="16" name="Freeform 16"/>
          <p:cNvSpPr/>
          <p:nvPr/>
        </p:nvSpPr>
        <p:spPr>
          <a:xfrm rot="-799972">
            <a:off x="16062873" y="5804958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0" y="0"/>
                </a:moveTo>
                <a:lnTo>
                  <a:pt x="1087849" y="0"/>
                </a:lnTo>
                <a:lnTo>
                  <a:pt x="1087849" y="1068812"/>
                </a:lnTo>
                <a:lnTo>
                  <a:pt x="0" y="1068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6242" y="3709219"/>
            <a:ext cx="13535378" cy="589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Convolutional VAE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Built with Residual Blocks &amp; U-Net (unfreezed)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CLIP Tokenizer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Utilizing a small text encoder (unfreezed) </a:t>
            </a:r>
          </a:p>
          <a:p>
            <a:pPr algn="just">
              <a:lnSpc>
                <a:spcPts val="4121"/>
              </a:lnSpc>
            </a:pPr>
            <a:endParaRPr lang="en-US" sz="2943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9213 images used to train VAE (25 epochs), Diffusion U-Net (30 epochs)</a:t>
            </a:r>
          </a:p>
          <a:p>
            <a:pPr algn="just">
              <a:lnSpc>
                <a:spcPts val="4121"/>
              </a:lnSpc>
            </a:pPr>
            <a:endParaRPr lang="en-US" sz="2943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Gradio Demo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Interface launched at script 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84067" y="596299"/>
            <a:ext cx="8030410" cy="215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sz="3503">
                <a:solidFill>
                  <a:srgbClr val="7C6751"/>
                </a:solidFill>
                <a:latin typeface="ABeeZee"/>
                <a:ea typeface="ABeeZee"/>
                <a:cs typeface="ABeeZee"/>
                <a:sym typeface="ABeeZee"/>
              </a:rPr>
              <a:t>APPROACH 1: </a:t>
            </a:r>
          </a:p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n-US" sz="4403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IMPLEMENTATION USING CONV VAE AND ENCODER</a:t>
            </a:r>
          </a:p>
        </p:txBody>
      </p:sp>
      <p:sp>
        <p:nvSpPr>
          <p:cNvPr id="4" name="Freeform 4"/>
          <p:cNvSpPr/>
          <p:nvPr/>
        </p:nvSpPr>
        <p:spPr>
          <a:xfrm rot="-477342" flipH="1">
            <a:off x="-55802" y="69633"/>
            <a:ext cx="2849962" cy="3162654"/>
          </a:xfrm>
          <a:custGeom>
            <a:avLst/>
            <a:gdLst/>
            <a:ahLst/>
            <a:cxnLst/>
            <a:rect l="l" t="t" r="r" b="b"/>
            <a:pathLst>
              <a:path w="2849962" h="3162654">
                <a:moveTo>
                  <a:pt x="2849962" y="0"/>
                </a:moveTo>
                <a:lnTo>
                  <a:pt x="0" y="0"/>
                </a:lnTo>
                <a:lnTo>
                  <a:pt x="0" y="3162654"/>
                </a:lnTo>
                <a:lnTo>
                  <a:pt x="2849962" y="3162654"/>
                </a:lnTo>
                <a:lnTo>
                  <a:pt x="284996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567996">
            <a:off x="16713846" y="9228888"/>
            <a:ext cx="2085989" cy="1432315"/>
          </a:xfrm>
          <a:custGeom>
            <a:avLst/>
            <a:gdLst/>
            <a:ahLst/>
            <a:cxnLst/>
            <a:rect l="l" t="t" r="r" b="b"/>
            <a:pathLst>
              <a:path w="2085989" h="1432315">
                <a:moveTo>
                  <a:pt x="0" y="0"/>
                </a:moveTo>
                <a:lnTo>
                  <a:pt x="2085989" y="0"/>
                </a:lnTo>
                <a:lnTo>
                  <a:pt x="2085989" y="1432316"/>
                </a:lnTo>
                <a:lnTo>
                  <a:pt x="0" y="1432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2094">
            <a:off x="15343572" y="1460482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26652">
            <a:off x="-1903785" y="6348786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720300" y="1028700"/>
            <a:ext cx="1639113" cy="1610429"/>
          </a:xfrm>
          <a:custGeom>
            <a:avLst/>
            <a:gdLst/>
            <a:ahLst/>
            <a:cxnLst/>
            <a:rect l="l" t="t" r="r" b="b"/>
            <a:pathLst>
              <a:path w="1639113" h="1610429">
                <a:moveTo>
                  <a:pt x="1639113" y="0"/>
                </a:moveTo>
                <a:lnTo>
                  <a:pt x="0" y="0"/>
                </a:lnTo>
                <a:lnTo>
                  <a:pt x="0" y="1610429"/>
                </a:lnTo>
                <a:lnTo>
                  <a:pt x="1639113" y="1610429"/>
                </a:lnTo>
                <a:lnTo>
                  <a:pt x="163911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567996">
            <a:off x="16516765" y="7662813"/>
            <a:ext cx="2085989" cy="1432315"/>
          </a:xfrm>
          <a:custGeom>
            <a:avLst/>
            <a:gdLst/>
            <a:ahLst/>
            <a:cxnLst/>
            <a:rect l="l" t="t" r="r" b="b"/>
            <a:pathLst>
              <a:path w="2085989" h="1432315">
                <a:moveTo>
                  <a:pt x="0" y="0"/>
                </a:moveTo>
                <a:lnTo>
                  <a:pt x="2085989" y="0"/>
                </a:lnTo>
                <a:lnTo>
                  <a:pt x="2085989" y="1432315"/>
                </a:lnTo>
                <a:lnTo>
                  <a:pt x="0" y="143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954010" y="3139333"/>
            <a:ext cx="12461660" cy="4890165"/>
          </a:xfrm>
          <a:custGeom>
            <a:avLst/>
            <a:gdLst/>
            <a:ahLst/>
            <a:cxnLst/>
            <a:rect l="l" t="t" r="r" b="b"/>
            <a:pathLst>
              <a:path w="12461660" h="4890165">
                <a:moveTo>
                  <a:pt x="0" y="0"/>
                </a:moveTo>
                <a:lnTo>
                  <a:pt x="12461659" y="0"/>
                </a:lnTo>
                <a:lnTo>
                  <a:pt x="12461659" y="4890165"/>
                </a:lnTo>
                <a:lnTo>
                  <a:pt x="0" y="4890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077" b="-19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11045" y="2028168"/>
            <a:ext cx="9180770" cy="61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1"/>
              </a:lnSpc>
              <a:spcBef>
                <a:spcPct val="0"/>
              </a:spcBef>
            </a:pPr>
            <a:r>
              <a:rPr lang="en-US" sz="3522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ARCHITECTURE OF APPROACH 1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558" y="2541664"/>
            <a:ext cx="4354798" cy="3078446"/>
            <a:chOff x="0" y="0"/>
            <a:chExt cx="1146943" cy="81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6191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Qualitative</a:t>
            </a:r>
          </a:p>
        </p:txBody>
      </p:sp>
      <p:sp>
        <p:nvSpPr>
          <p:cNvPr id="6" name="Freeform 6"/>
          <p:cNvSpPr/>
          <p:nvPr/>
        </p:nvSpPr>
        <p:spPr>
          <a:xfrm rot="909446" flipH="1">
            <a:off x="399406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49" y="0"/>
                </a:moveTo>
                <a:lnTo>
                  <a:pt x="0" y="0"/>
                </a:lnTo>
                <a:lnTo>
                  <a:pt x="0" y="1068812"/>
                </a:lnTo>
                <a:lnTo>
                  <a:pt x="1087849" y="1068812"/>
                </a:lnTo>
                <a:lnTo>
                  <a:pt x="10878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992686" y="2541664"/>
            <a:ext cx="4354798" cy="3078446"/>
            <a:chOff x="0" y="0"/>
            <a:chExt cx="1146943" cy="8107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18319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Quantitative</a:t>
            </a:r>
          </a:p>
        </p:txBody>
      </p:sp>
      <p:sp>
        <p:nvSpPr>
          <p:cNvPr id="11" name="Freeform 11"/>
          <p:cNvSpPr/>
          <p:nvPr/>
        </p:nvSpPr>
        <p:spPr>
          <a:xfrm rot="909446" flipH="1">
            <a:off x="6791534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50" y="0"/>
                </a:moveTo>
                <a:lnTo>
                  <a:pt x="0" y="0"/>
                </a:lnTo>
                <a:lnTo>
                  <a:pt x="0" y="1068812"/>
                </a:lnTo>
                <a:lnTo>
                  <a:pt x="1087850" y="1068812"/>
                </a:lnTo>
                <a:lnTo>
                  <a:pt x="108785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3383946" y="2541664"/>
            <a:ext cx="4354798" cy="3078446"/>
            <a:chOff x="0" y="0"/>
            <a:chExt cx="1146943" cy="8107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109579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</a:p>
        </p:txBody>
      </p:sp>
      <p:sp>
        <p:nvSpPr>
          <p:cNvPr id="16" name="Freeform 16"/>
          <p:cNvSpPr/>
          <p:nvPr/>
        </p:nvSpPr>
        <p:spPr>
          <a:xfrm rot="909446" flipH="1">
            <a:off x="13182794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50" y="0"/>
                </a:moveTo>
                <a:lnTo>
                  <a:pt x="0" y="0"/>
                </a:lnTo>
                <a:lnTo>
                  <a:pt x="0" y="1068812"/>
                </a:lnTo>
                <a:lnTo>
                  <a:pt x="1087850" y="1068812"/>
                </a:lnTo>
                <a:lnTo>
                  <a:pt x="108785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316652" y="6347407"/>
            <a:ext cx="7229089" cy="2421745"/>
          </a:xfrm>
          <a:custGeom>
            <a:avLst/>
            <a:gdLst/>
            <a:ahLst/>
            <a:cxnLst/>
            <a:rect l="l" t="t" r="r" b="b"/>
            <a:pathLst>
              <a:path w="7229089" h="2421745">
                <a:moveTo>
                  <a:pt x="0" y="0"/>
                </a:moveTo>
                <a:lnTo>
                  <a:pt x="7229089" y="0"/>
                </a:lnTo>
                <a:lnTo>
                  <a:pt x="7229089" y="2421745"/>
                </a:lnTo>
                <a:lnTo>
                  <a:pt x="0" y="2421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477195" y="5841994"/>
            <a:ext cx="3813503" cy="3686103"/>
          </a:xfrm>
          <a:custGeom>
            <a:avLst/>
            <a:gdLst/>
            <a:ahLst/>
            <a:cxnLst/>
            <a:rect l="l" t="t" r="r" b="b"/>
            <a:pathLst>
              <a:path w="3813503" h="3686103">
                <a:moveTo>
                  <a:pt x="0" y="0"/>
                </a:moveTo>
                <a:lnTo>
                  <a:pt x="3813503" y="0"/>
                </a:lnTo>
                <a:lnTo>
                  <a:pt x="3813503" y="3686103"/>
                </a:lnTo>
                <a:lnTo>
                  <a:pt x="0" y="3686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04792" y="3664737"/>
            <a:ext cx="4146331" cy="160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Butterfly shapes not recognized </a:t>
            </a: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Blurred details </a:t>
            </a: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Noisy backgrounds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6920" y="3664737"/>
            <a:ext cx="4146331" cy="160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VAE loss: ~0.015 (plateaued) </a:t>
            </a: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Diffusion MSE loss: ~0.04 → ~0.018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88180" y="3664737"/>
            <a:ext cx="4146331" cy="120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Training: 4 hrs (VAE) + 6 hrs (diffusion) </a:t>
            </a: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• Inference: ~2 sec/image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71486" y="500883"/>
            <a:ext cx="10745028" cy="70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1"/>
              </a:lnSpc>
              <a:spcBef>
                <a:spcPct val="0"/>
              </a:spcBef>
            </a:pPr>
            <a:r>
              <a:rPr lang="en-US" sz="4122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RESULTS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9430" y="9026136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Output from VAE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32180" y="9661447"/>
            <a:ext cx="4191338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Diffusion model output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0057387" y="7605904"/>
            <a:ext cx="908162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8925" y="3537101"/>
            <a:ext cx="13535378" cy="64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1"/>
              </a:lnSpc>
            </a:pPr>
            <a:r>
              <a:rPr lang="en-US" sz="3243" b="1" dirty="0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Load Components </a:t>
            </a:r>
            <a:r>
              <a:rPr lang="en-US" sz="32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121"/>
              </a:lnSpc>
            </a:pPr>
            <a:r>
              <a:rPr lang="en-US" sz="2943" dirty="0" err="1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AutoencoderKL</a:t>
            </a: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3" dirty="0" err="1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DDPMScheduler</a:t>
            </a: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3" dirty="0" err="1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CLIPTextMode</a:t>
            </a: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121"/>
              </a:lnSpc>
            </a:pPr>
            <a:endParaRPr lang="en-US" sz="2943" dirty="0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 dirty="0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Freeze Weights</a:t>
            </a:r>
          </a:p>
          <a:p>
            <a:pPr algn="just">
              <a:lnSpc>
                <a:spcPts val="4121"/>
              </a:lnSpc>
            </a:pP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VAE &amp; text encoder weights frozen </a:t>
            </a:r>
          </a:p>
          <a:p>
            <a:pPr algn="just">
              <a:lnSpc>
                <a:spcPts val="4121"/>
              </a:lnSpc>
            </a:pPr>
            <a:endParaRPr lang="en-US" sz="2943" dirty="0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 dirty="0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Dataset</a:t>
            </a:r>
          </a:p>
          <a:p>
            <a:pPr algn="just">
              <a:lnSpc>
                <a:spcPts val="4121"/>
              </a:lnSpc>
            </a:pP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Batch size = 4 loaded 9213 images </a:t>
            </a:r>
          </a:p>
          <a:p>
            <a:pPr algn="just">
              <a:lnSpc>
                <a:spcPts val="4121"/>
              </a:lnSpc>
            </a:pPr>
            <a:endParaRPr lang="en-US" sz="2943" dirty="0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 dirty="0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</a:t>
            </a:r>
          </a:p>
          <a:p>
            <a:pPr algn="just">
              <a:lnSpc>
                <a:spcPts val="4121"/>
              </a:lnSpc>
            </a:pPr>
            <a:r>
              <a:rPr lang="en-US" sz="2943" dirty="0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10 epochs, checkpoint saved at each epoch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89640" y="366333"/>
            <a:ext cx="9962120" cy="2938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sz="3503">
                <a:solidFill>
                  <a:srgbClr val="7C6751"/>
                </a:solidFill>
                <a:latin typeface="ABeeZee"/>
                <a:ea typeface="ABeeZee"/>
                <a:cs typeface="ABeeZee"/>
                <a:sym typeface="ABeeZee"/>
              </a:rPr>
              <a:t>APPROACH 2: </a:t>
            </a:r>
          </a:p>
          <a:p>
            <a:pPr algn="ctr">
              <a:lnSpc>
                <a:spcPts val="6164"/>
              </a:lnSpc>
            </a:pPr>
            <a:r>
              <a:rPr lang="en-US" sz="4403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STABLE DIFFUSION V1-4 PIPELINE USING </a:t>
            </a:r>
          </a:p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n-US" sz="4403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CUSTOM UNET WITH ATTENTION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6077A7-8559-703F-C0AE-B3E211A48BE7}"/>
              </a:ext>
            </a:extLst>
          </p:cNvPr>
          <p:cNvGrpSpPr/>
          <p:nvPr/>
        </p:nvGrpSpPr>
        <p:grpSpPr>
          <a:xfrm>
            <a:off x="11289431" y="4340749"/>
            <a:ext cx="5924658" cy="5486400"/>
            <a:chOff x="5032653" y="2356723"/>
            <a:chExt cx="4564975" cy="4564975"/>
          </a:xfrm>
        </p:grpSpPr>
        <p:pic>
          <p:nvPicPr>
            <p:cNvPr id="18" name="Google Shape;139;p18" descr="preencoded.png">
              <a:extLst>
                <a:ext uri="{FF2B5EF4-FFF2-40B4-BE49-F238E27FC236}">
                  <a16:creationId xmlns:a16="http://schemas.microsoft.com/office/drawing/2014/main" id="{0468B5A2-7115-C3DA-311F-F9CBAA4574B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032653" y="2356723"/>
              <a:ext cx="4564975" cy="456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40;p18" descr="preencoded.png">
              <a:extLst>
                <a:ext uri="{FF2B5EF4-FFF2-40B4-BE49-F238E27FC236}">
                  <a16:creationId xmlns:a16="http://schemas.microsoft.com/office/drawing/2014/main" id="{E5D7BE5E-6186-D692-7932-89A2B2DBB6E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26731" y="3119795"/>
              <a:ext cx="339328" cy="424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3;p18" descr="preencoded.png">
              <a:extLst>
                <a:ext uri="{FF2B5EF4-FFF2-40B4-BE49-F238E27FC236}">
                  <a16:creationId xmlns:a16="http://schemas.microsoft.com/office/drawing/2014/main" id="{20A97F87-4304-98B5-A8DC-B4CCD1141D3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32653" y="2356723"/>
              <a:ext cx="4564975" cy="456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44;p18" descr="preencoded.png">
              <a:extLst>
                <a:ext uri="{FF2B5EF4-FFF2-40B4-BE49-F238E27FC236}">
                  <a16:creationId xmlns:a16="http://schemas.microsoft.com/office/drawing/2014/main" id="{E4AD8A58-1A7F-1CFF-E0AE-D9629F17712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452604" y="3508296"/>
              <a:ext cx="339328" cy="424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47;p18" descr="preencoded.png">
              <a:extLst>
                <a:ext uri="{FF2B5EF4-FFF2-40B4-BE49-F238E27FC236}">
                  <a16:creationId xmlns:a16="http://schemas.microsoft.com/office/drawing/2014/main" id="{CEA57C53-48DA-C5E2-E543-1A666495366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32653" y="2356723"/>
              <a:ext cx="4564975" cy="456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48;p18" descr="preencoded.png">
              <a:extLst>
                <a:ext uri="{FF2B5EF4-FFF2-40B4-BE49-F238E27FC236}">
                  <a16:creationId xmlns:a16="http://schemas.microsoft.com/office/drawing/2014/main" id="{9F7A8598-E18F-C348-7526-3F5D484E801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64103" y="5776555"/>
              <a:ext cx="339328" cy="339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151;p18" descr="preencoded.png">
              <a:extLst>
                <a:ext uri="{FF2B5EF4-FFF2-40B4-BE49-F238E27FC236}">
                  <a16:creationId xmlns:a16="http://schemas.microsoft.com/office/drawing/2014/main" id="{9D8C7141-C7DE-8BB8-07E5-9271AB9552EF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032653" y="2356723"/>
              <a:ext cx="4564975" cy="456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52;p18" descr="preencoded.png">
              <a:extLst>
                <a:ext uri="{FF2B5EF4-FFF2-40B4-BE49-F238E27FC236}">
                  <a16:creationId xmlns:a16="http://schemas.microsoft.com/office/drawing/2014/main" id="{DF41DB09-A11B-FFB9-B59D-B6939FB4D3D6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838230" y="5345668"/>
              <a:ext cx="339328" cy="4242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Freeform 4"/>
          <p:cNvSpPr/>
          <p:nvPr/>
        </p:nvSpPr>
        <p:spPr>
          <a:xfrm rot="21319876">
            <a:off x="15566976" y="2333170"/>
            <a:ext cx="2298119" cy="3115385"/>
          </a:xfrm>
          <a:custGeom>
            <a:avLst/>
            <a:gdLst/>
            <a:ahLst/>
            <a:cxnLst/>
            <a:rect l="l" t="t" r="r" b="b"/>
            <a:pathLst>
              <a:path w="3844836" h="4266684">
                <a:moveTo>
                  <a:pt x="3844836" y="0"/>
                </a:moveTo>
                <a:lnTo>
                  <a:pt x="0" y="0"/>
                </a:lnTo>
                <a:lnTo>
                  <a:pt x="0" y="4266683"/>
                </a:lnTo>
                <a:lnTo>
                  <a:pt x="3844836" y="4266683"/>
                </a:lnTo>
                <a:lnTo>
                  <a:pt x="3844836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2094">
            <a:off x="15343572" y="1460482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26652">
            <a:off x="-1029917" y="1317883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249709" y="1219128"/>
            <a:ext cx="8769767" cy="5820933"/>
          </a:xfrm>
          <a:custGeom>
            <a:avLst/>
            <a:gdLst/>
            <a:ahLst/>
            <a:cxnLst/>
            <a:rect l="l" t="t" r="r" b="b"/>
            <a:pathLst>
              <a:path w="8769767" h="5820933">
                <a:moveTo>
                  <a:pt x="0" y="0"/>
                </a:moveTo>
                <a:lnTo>
                  <a:pt x="8769767" y="0"/>
                </a:lnTo>
                <a:lnTo>
                  <a:pt x="8769767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83278" y="209932"/>
            <a:ext cx="12302964" cy="61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1"/>
              </a:lnSpc>
              <a:spcBef>
                <a:spcPct val="0"/>
              </a:spcBef>
            </a:pPr>
            <a:r>
              <a:rPr lang="en-US" sz="3522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APPROACH 2 : CUSTOM UNET WITH ATTENTION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3111" y="7528184"/>
            <a:ext cx="17421779" cy="206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548" lvl="1" indent="-317774" algn="just">
              <a:lnSpc>
                <a:spcPts val="4121"/>
              </a:lnSpc>
              <a:buFont typeface="Arial"/>
              <a:buChar char="•"/>
            </a:pPr>
            <a:r>
              <a:rPr lang="en-US" sz="2943">
                <a:solidFill>
                  <a:srgbClr val="FDF1BF"/>
                </a:solidFill>
                <a:latin typeface="Poppins"/>
                <a:ea typeface="Poppins"/>
                <a:cs typeface="Poppins"/>
                <a:sym typeface="Poppins"/>
              </a:rPr>
              <a:t>It's a U-Net-style autoencoder used primarily for denoising tasks (like in diffusion models). </a:t>
            </a:r>
          </a:p>
          <a:p>
            <a:pPr marL="635548" lvl="1" indent="-317774" algn="just">
              <a:lnSpc>
                <a:spcPts val="4121"/>
              </a:lnSpc>
              <a:buFont typeface="Arial"/>
              <a:buChar char="•"/>
            </a:pPr>
            <a:r>
              <a:rPr lang="en-US" sz="2943">
                <a:solidFill>
                  <a:srgbClr val="FDF1BF"/>
                </a:solidFill>
                <a:latin typeface="Poppins"/>
                <a:ea typeface="Poppins"/>
                <a:cs typeface="Poppins"/>
                <a:sym typeface="Poppins"/>
              </a:rPr>
              <a:t>Integrates Cross-Attention to inject conditional information from text embeddings (like from CLIP or a text encoder). </a:t>
            </a:r>
          </a:p>
          <a:p>
            <a:pPr marL="635548" lvl="1" indent="-317774" algn="just">
              <a:lnSpc>
                <a:spcPts val="4121"/>
              </a:lnSpc>
              <a:buFont typeface="Arial"/>
              <a:buChar char="•"/>
            </a:pPr>
            <a:r>
              <a:rPr lang="en-US" sz="2943">
                <a:solidFill>
                  <a:srgbClr val="FDF1BF"/>
                </a:solidFill>
                <a:latin typeface="Poppins"/>
                <a:ea typeface="Poppins"/>
                <a:cs typeface="Poppins"/>
                <a:sym typeface="Poppins"/>
              </a:rPr>
              <a:t>Freezed VAE and text encoders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558" y="2541664"/>
            <a:ext cx="4354798" cy="3078446"/>
            <a:chOff x="0" y="0"/>
            <a:chExt cx="1146943" cy="81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6191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Qualitative</a:t>
            </a:r>
          </a:p>
        </p:txBody>
      </p:sp>
      <p:sp>
        <p:nvSpPr>
          <p:cNvPr id="6" name="Freeform 6"/>
          <p:cNvSpPr/>
          <p:nvPr/>
        </p:nvSpPr>
        <p:spPr>
          <a:xfrm rot="909446" flipH="1">
            <a:off x="399406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49" y="0"/>
                </a:moveTo>
                <a:lnTo>
                  <a:pt x="0" y="0"/>
                </a:lnTo>
                <a:lnTo>
                  <a:pt x="0" y="1068812"/>
                </a:lnTo>
                <a:lnTo>
                  <a:pt x="1087849" y="1068812"/>
                </a:lnTo>
                <a:lnTo>
                  <a:pt x="10878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992686" y="2541664"/>
            <a:ext cx="4354798" cy="3078446"/>
            <a:chOff x="0" y="0"/>
            <a:chExt cx="1146943" cy="8107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18319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Quantitative</a:t>
            </a:r>
          </a:p>
        </p:txBody>
      </p:sp>
      <p:sp>
        <p:nvSpPr>
          <p:cNvPr id="11" name="Freeform 11"/>
          <p:cNvSpPr/>
          <p:nvPr/>
        </p:nvSpPr>
        <p:spPr>
          <a:xfrm rot="909446" flipH="1">
            <a:off x="6791534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50" y="0"/>
                </a:moveTo>
                <a:lnTo>
                  <a:pt x="0" y="0"/>
                </a:lnTo>
                <a:lnTo>
                  <a:pt x="0" y="1068812"/>
                </a:lnTo>
                <a:lnTo>
                  <a:pt x="1087850" y="1068812"/>
                </a:lnTo>
                <a:lnTo>
                  <a:pt x="108785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3383946" y="2541664"/>
            <a:ext cx="4354798" cy="3078446"/>
            <a:chOff x="0" y="0"/>
            <a:chExt cx="1146943" cy="8107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109579" y="2652380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</a:p>
        </p:txBody>
      </p:sp>
      <p:sp>
        <p:nvSpPr>
          <p:cNvPr id="16" name="Freeform 16"/>
          <p:cNvSpPr/>
          <p:nvPr/>
        </p:nvSpPr>
        <p:spPr>
          <a:xfrm rot="909446" flipH="1">
            <a:off x="13182794" y="1545663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50" y="0"/>
                </a:moveTo>
                <a:lnTo>
                  <a:pt x="0" y="0"/>
                </a:lnTo>
                <a:lnTo>
                  <a:pt x="0" y="1068812"/>
                </a:lnTo>
                <a:lnTo>
                  <a:pt x="1087850" y="1068812"/>
                </a:lnTo>
                <a:lnTo>
                  <a:pt x="108785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269336" y="5740304"/>
            <a:ext cx="3964958" cy="3649813"/>
          </a:xfrm>
          <a:custGeom>
            <a:avLst/>
            <a:gdLst/>
            <a:ahLst/>
            <a:cxnLst/>
            <a:rect l="l" t="t" r="r" b="b"/>
            <a:pathLst>
              <a:path w="3964958" h="3649813">
                <a:moveTo>
                  <a:pt x="0" y="0"/>
                </a:moveTo>
                <a:lnTo>
                  <a:pt x="3964958" y="0"/>
                </a:lnTo>
                <a:lnTo>
                  <a:pt x="3964958" y="3649814"/>
                </a:lnTo>
                <a:lnTo>
                  <a:pt x="0" y="3649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04792" y="3664737"/>
            <a:ext cx="4146331" cy="160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Image is still very noisy and blurry, can’t make out butterflies at all but some colors appear.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96920" y="3664737"/>
            <a:ext cx="4146331" cy="120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Unet MSE loss decreased from ~0.035 to ~0.010 by epoch 10.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90610" y="3306741"/>
            <a:ext cx="4146331" cy="200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Reduced training time of approximately 2 hours on one GPU. Faster inference at approximately 1.2 seconds per image.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71486" y="500883"/>
            <a:ext cx="10745028" cy="70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1"/>
              </a:lnSpc>
              <a:spcBef>
                <a:spcPct val="0"/>
              </a:spcBef>
            </a:pPr>
            <a:r>
              <a:rPr lang="en-US" sz="4122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56146" y="9523468"/>
            <a:ext cx="4191338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Diffusion model output</a:t>
            </a:r>
          </a:p>
        </p:txBody>
      </p:sp>
      <p:pic>
        <p:nvPicPr>
          <p:cNvPr id="23" name="Google Shape;167;p20" descr="preencoded.png">
            <a:extLst>
              <a:ext uri="{FF2B5EF4-FFF2-40B4-BE49-F238E27FC236}">
                <a16:creationId xmlns:a16="http://schemas.microsoft.com/office/drawing/2014/main" id="{0543F950-6BEA-BEE7-2221-E7993918E2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15077" y="6142153"/>
            <a:ext cx="561856" cy="56185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68;p20">
            <a:extLst>
              <a:ext uri="{FF2B5EF4-FFF2-40B4-BE49-F238E27FC236}">
                <a16:creationId xmlns:a16="http://schemas.microsoft.com/office/drawing/2014/main" id="{5A1BE007-165E-CB09-4107-C9C304D68767}"/>
              </a:ext>
            </a:extLst>
          </p:cNvPr>
          <p:cNvSpPr/>
          <p:nvPr/>
        </p:nvSpPr>
        <p:spPr>
          <a:xfrm>
            <a:off x="12801600" y="6102864"/>
            <a:ext cx="2809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Some colors appear</a:t>
            </a:r>
            <a:endParaRPr sz="2200" b="0" i="0" u="none" strike="noStrike" cap="none">
              <a:solidFill>
                <a:schemeClr val="bg1"/>
              </a:solidFill>
            </a:endParaRPr>
          </a:p>
        </p:txBody>
      </p:sp>
      <p:pic>
        <p:nvPicPr>
          <p:cNvPr id="25" name="Google Shape;169;p20" descr="preencoded.png">
            <a:extLst>
              <a:ext uri="{FF2B5EF4-FFF2-40B4-BE49-F238E27FC236}">
                <a16:creationId xmlns:a16="http://schemas.microsoft.com/office/drawing/2014/main" id="{AF3F5A08-EE90-A6FA-53E5-5EB3D422B3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15077" y="7417431"/>
            <a:ext cx="561856" cy="56185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70;p20">
            <a:extLst>
              <a:ext uri="{FF2B5EF4-FFF2-40B4-BE49-F238E27FC236}">
                <a16:creationId xmlns:a16="http://schemas.microsoft.com/office/drawing/2014/main" id="{C2B678C0-E094-ED6F-B996-066EF02DC18C}"/>
              </a:ext>
            </a:extLst>
          </p:cNvPr>
          <p:cNvSpPr/>
          <p:nvPr/>
        </p:nvSpPr>
        <p:spPr>
          <a:xfrm>
            <a:off x="12801604" y="7378141"/>
            <a:ext cx="2809280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Starting to take shape but still mostly noise. </a:t>
            </a:r>
            <a:endParaRPr sz="2200" b="0" i="0" u="none" strike="noStrike" cap="none">
              <a:solidFill>
                <a:schemeClr val="bg1"/>
              </a:solidFill>
            </a:endParaRPr>
          </a:p>
        </p:txBody>
      </p:sp>
      <p:pic>
        <p:nvPicPr>
          <p:cNvPr id="27" name="Google Shape;171;p20" descr="preencoded.png">
            <a:extLst>
              <a:ext uri="{FF2B5EF4-FFF2-40B4-BE49-F238E27FC236}">
                <a16:creationId xmlns:a16="http://schemas.microsoft.com/office/drawing/2014/main" id="{A54BF87B-0B84-3069-25FC-FCF9028C676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15077" y="8692710"/>
            <a:ext cx="561856" cy="56185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72;p20">
            <a:extLst>
              <a:ext uri="{FF2B5EF4-FFF2-40B4-BE49-F238E27FC236}">
                <a16:creationId xmlns:a16="http://schemas.microsoft.com/office/drawing/2014/main" id="{BA81BBD9-BC3B-FAF2-61F2-92F0B9A6BF9A}"/>
              </a:ext>
            </a:extLst>
          </p:cNvPr>
          <p:cNvSpPr/>
          <p:nvPr/>
        </p:nvSpPr>
        <p:spPr>
          <a:xfrm>
            <a:off x="12801604" y="8653419"/>
            <a:ext cx="2809280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Bette</a:t>
            </a:r>
            <a:r>
              <a:rPr lang="en-US" sz="220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r training time</a:t>
            </a:r>
            <a:endParaRPr sz="2200" b="0" i="0" u="none" strike="noStrike" cap="none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160" y="2785881"/>
            <a:ext cx="13535378" cy="583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Source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runwayml/stable-diffusion-v1-5 </a:t>
            </a:r>
          </a:p>
          <a:p>
            <a:pPr algn="just">
              <a:lnSpc>
                <a:spcPts val="4121"/>
              </a:lnSpc>
            </a:pPr>
            <a:endParaRPr lang="en-US" sz="2943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Key Differences</a:t>
            </a:r>
            <a:r>
              <a:rPr lang="en-US" sz="32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• Stable Diffusion Pipeline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• VAE &amp; Text Encoder frozen </a:t>
            </a:r>
          </a:p>
          <a:p>
            <a:pPr algn="just">
              <a:lnSpc>
                <a:spcPts val="4121"/>
              </a:lnSpc>
            </a:pPr>
            <a:endParaRPr lang="en-US" sz="2943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41"/>
              </a:lnSpc>
            </a:pPr>
            <a:r>
              <a:rPr lang="en-US" sz="3243" b="1">
                <a:solidFill>
                  <a:srgbClr val="7C6751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Details</a:t>
            </a:r>
            <a:r>
              <a:rPr lang="en-US" sz="32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• 10 epoch (proof-of-concept)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• Gradient accumulation, max gradient norm </a:t>
            </a:r>
          </a:p>
          <a:p>
            <a:pPr algn="just">
              <a:lnSpc>
                <a:spcPts val="4121"/>
              </a:lnSpc>
            </a:pPr>
            <a:r>
              <a:rPr lang="en-US" sz="2943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• 1000 images loaded to save computational power</a:t>
            </a:r>
          </a:p>
        </p:txBody>
      </p:sp>
      <p:sp>
        <p:nvSpPr>
          <p:cNvPr id="3" name="Freeform 3"/>
          <p:cNvSpPr/>
          <p:nvPr/>
        </p:nvSpPr>
        <p:spPr>
          <a:xfrm rot="-477342" flipH="1">
            <a:off x="1287700" y="209192"/>
            <a:ext cx="1702313" cy="1889087"/>
          </a:xfrm>
          <a:custGeom>
            <a:avLst/>
            <a:gdLst/>
            <a:ahLst/>
            <a:cxnLst/>
            <a:rect l="l" t="t" r="r" b="b"/>
            <a:pathLst>
              <a:path w="1702313" h="1889087">
                <a:moveTo>
                  <a:pt x="1702313" y="0"/>
                </a:moveTo>
                <a:lnTo>
                  <a:pt x="0" y="0"/>
                </a:lnTo>
                <a:lnTo>
                  <a:pt x="0" y="1889087"/>
                </a:lnTo>
                <a:lnTo>
                  <a:pt x="1702313" y="1889087"/>
                </a:lnTo>
                <a:lnTo>
                  <a:pt x="170231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628569" y="2049987"/>
            <a:ext cx="6143938" cy="7608591"/>
          </a:xfrm>
          <a:custGeom>
            <a:avLst/>
            <a:gdLst/>
            <a:ahLst/>
            <a:cxnLst/>
            <a:rect l="l" t="t" r="r" b="b"/>
            <a:pathLst>
              <a:path w="6143938" h="7608591">
                <a:moveTo>
                  <a:pt x="0" y="0"/>
                </a:moveTo>
                <a:lnTo>
                  <a:pt x="6143937" y="0"/>
                </a:lnTo>
                <a:lnTo>
                  <a:pt x="6143937" y="7608592"/>
                </a:lnTo>
                <a:lnTo>
                  <a:pt x="0" y="760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20302" y="427658"/>
            <a:ext cx="9962120" cy="137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sz="3503">
                <a:solidFill>
                  <a:srgbClr val="7C6751"/>
                </a:solidFill>
                <a:latin typeface="ABeeZee"/>
                <a:ea typeface="ABeeZee"/>
                <a:cs typeface="ABeeZee"/>
                <a:sym typeface="ABeeZee"/>
              </a:rPr>
              <a:t>APPROACH 3: </a:t>
            </a:r>
          </a:p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n-US" sz="4403">
                <a:solidFill>
                  <a:srgbClr val="7C6751"/>
                </a:solidFill>
                <a:latin typeface="Chunk Five"/>
                <a:ea typeface="Chunk Five"/>
                <a:cs typeface="Chunk Five"/>
                <a:sym typeface="Chunk Five"/>
              </a:rPr>
              <a:t>STABLE DIFFUSION V1-5 PIPELINE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570" y="2725636"/>
            <a:ext cx="4354798" cy="3078446"/>
            <a:chOff x="0" y="0"/>
            <a:chExt cx="1146943" cy="81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54203" y="2836352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Qualitative</a:t>
            </a:r>
          </a:p>
        </p:txBody>
      </p:sp>
      <p:sp>
        <p:nvSpPr>
          <p:cNvPr id="6" name="Freeform 6"/>
          <p:cNvSpPr/>
          <p:nvPr/>
        </p:nvSpPr>
        <p:spPr>
          <a:xfrm rot="909446" flipH="1">
            <a:off x="427418" y="1729636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50" y="0"/>
                </a:moveTo>
                <a:lnTo>
                  <a:pt x="0" y="0"/>
                </a:lnTo>
                <a:lnTo>
                  <a:pt x="0" y="1068812"/>
                </a:lnTo>
                <a:lnTo>
                  <a:pt x="1087850" y="1068812"/>
                </a:lnTo>
                <a:lnTo>
                  <a:pt x="108785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020699" y="2725636"/>
            <a:ext cx="4354798" cy="3078446"/>
            <a:chOff x="0" y="0"/>
            <a:chExt cx="1146943" cy="8107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46332" y="2836352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Quantitative</a:t>
            </a:r>
          </a:p>
        </p:txBody>
      </p:sp>
      <p:sp>
        <p:nvSpPr>
          <p:cNvPr id="11" name="Freeform 11"/>
          <p:cNvSpPr/>
          <p:nvPr/>
        </p:nvSpPr>
        <p:spPr>
          <a:xfrm rot="909446" flipH="1">
            <a:off x="6819547" y="1729636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49" y="0"/>
                </a:moveTo>
                <a:lnTo>
                  <a:pt x="0" y="0"/>
                </a:lnTo>
                <a:lnTo>
                  <a:pt x="0" y="1068812"/>
                </a:lnTo>
                <a:lnTo>
                  <a:pt x="1087849" y="1068812"/>
                </a:lnTo>
                <a:lnTo>
                  <a:pt x="10878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3411959" y="2725636"/>
            <a:ext cx="4354798" cy="3078446"/>
            <a:chOff x="0" y="0"/>
            <a:chExt cx="1146943" cy="8107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6943" cy="810784"/>
            </a:xfrm>
            <a:custGeom>
              <a:avLst/>
              <a:gdLst/>
              <a:ahLst/>
              <a:cxnLst/>
              <a:rect l="l" t="t" r="r" b="b"/>
              <a:pathLst>
                <a:path w="1146943" h="810784">
                  <a:moveTo>
                    <a:pt x="0" y="0"/>
                  </a:moveTo>
                  <a:lnTo>
                    <a:pt x="1146943" y="0"/>
                  </a:lnTo>
                  <a:lnTo>
                    <a:pt x="1146943" y="810784"/>
                  </a:lnTo>
                  <a:lnTo>
                    <a:pt x="0" y="81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9E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6943" cy="86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137592" y="2836352"/>
            <a:ext cx="2903532" cy="50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</a:p>
        </p:txBody>
      </p:sp>
      <p:sp>
        <p:nvSpPr>
          <p:cNvPr id="16" name="Freeform 16"/>
          <p:cNvSpPr/>
          <p:nvPr/>
        </p:nvSpPr>
        <p:spPr>
          <a:xfrm rot="909446" flipH="1">
            <a:off x="13210807" y="1729636"/>
            <a:ext cx="1087849" cy="1068812"/>
          </a:xfrm>
          <a:custGeom>
            <a:avLst/>
            <a:gdLst/>
            <a:ahLst/>
            <a:cxnLst/>
            <a:rect l="l" t="t" r="r" b="b"/>
            <a:pathLst>
              <a:path w="1087849" h="1068812">
                <a:moveTo>
                  <a:pt x="1087849" y="0"/>
                </a:moveTo>
                <a:lnTo>
                  <a:pt x="0" y="0"/>
                </a:lnTo>
                <a:lnTo>
                  <a:pt x="0" y="1068812"/>
                </a:lnTo>
                <a:lnTo>
                  <a:pt x="1087849" y="1068812"/>
                </a:lnTo>
                <a:lnTo>
                  <a:pt x="10878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649864" y="6539352"/>
            <a:ext cx="4126550" cy="3524596"/>
          </a:xfrm>
          <a:custGeom>
            <a:avLst/>
            <a:gdLst/>
            <a:ahLst/>
            <a:cxnLst/>
            <a:rect l="l" t="t" r="r" b="b"/>
            <a:pathLst>
              <a:path w="4126550" h="3524596">
                <a:moveTo>
                  <a:pt x="0" y="0"/>
                </a:moveTo>
                <a:lnTo>
                  <a:pt x="4126550" y="0"/>
                </a:lnTo>
                <a:lnTo>
                  <a:pt x="4126550" y="3524596"/>
                </a:lnTo>
                <a:lnTo>
                  <a:pt x="0" y="3524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132" r="-54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951354" y="6652034"/>
            <a:ext cx="3974269" cy="3299231"/>
          </a:xfrm>
          <a:custGeom>
            <a:avLst/>
            <a:gdLst/>
            <a:ahLst/>
            <a:cxnLst/>
            <a:rect l="l" t="t" r="r" b="b"/>
            <a:pathLst>
              <a:path w="3974269" h="3299231">
                <a:moveTo>
                  <a:pt x="0" y="0"/>
                </a:moveTo>
                <a:lnTo>
                  <a:pt x="3974269" y="0"/>
                </a:lnTo>
                <a:lnTo>
                  <a:pt x="3974269" y="3299231"/>
                </a:lnTo>
                <a:lnTo>
                  <a:pt x="0" y="329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32804" y="3848709"/>
            <a:ext cx="4146331" cy="80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Clear wing edges, background coherence 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24932" y="3848709"/>
            <a:ext cx="4146331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Single-epoch MSE loss ~0.012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18622" y="3490713"/>
            <a:ext cx="4146331" cy="120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EF9E4"/>
                </a:solidFill>
                <a:latin typeface="Poppins"/>
                <a:ea typeface="Poppins"/>
                <a:cs typeface="Poppins"/>
                <a:sym typeface="Poppins"/>
              </a:rPr>
              <a:t>50 min training for 10 epochs on 1 A-100 GPU, Inference ~1 sec/image.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25584" y="439559"/>
            <a:ext cx="10745028" cy="70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1"/>
              </a:lnSpc>
              <a:spcBef>
                <a:spcPct val="0"/>
              </a:spcBef>
            </a:pPr>
            <a:r>
              <a:rPr lang="en-US" sz="4122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5772" y="686829"/>
            <a:ext cx="16587928" cy="9164830"/>
          </a:xfrm>
          <a:custGeom>
            <a:avLst/>
            <a:gdLst/>
            <a:ahLst/>
            <a:cxnLst/>
            <a:rect l="l" t="t" r="r" b="b"/>
            <a:pathLst>
              <a:path w="16587928" h="9164830">
                <a:moveTo>
                  <a:pt x="0" y="0"/>
                </a:moveTo>
                <a:lnTo>
                  <a:pt x="16587927" y="0"/>
                </a:lnTo>
                <a:lnTo>
                  <a:pt x="16587927" y="9164830"/>
                </a:lnTo>
                <a:lnTo>
                  <a:pt x="0" y="9164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26652">
            <a:off x="-1187488" y="8010783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6" y="0"/>
                </a:lnTo>
                <a:lnTo>
                  <a:pt x="4432376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142094">
            <a:off x="15680855" y="6168641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2094">
            <a:off x="15680855" y="6168641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77689" y="635049"/>
            <a:ext cx="15989094" cy="9016902"/>
          </a:xfrm>
          <a:custGeom>
            <a:avLst/>
            <a:gdLst/>
            <a:ahLst/>
            <a:cxnLst/>
            <a:rect l="l" t="t" r="r" b="b"/>
            <a:pathLst>
              <a:path w="15989094" h="9016902">
                <a:moveTo>
                  <a:pt x="0" y="0"/>
                </a:moveTo>
                <a:lnTo>
                  <a:pt x="15989094" y="0"/>
                </a:lnTo>
                <a:lnTo>
                  <a:pt x="15989094" y="9016902"/>
                </a:lnTo>
                <a:lnTo>
                  <a:pt x="0" y="901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426652">
            <a:off x="-1187488" y="8010783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6" y="0"/>
                </a:lnTo>
                <a:lnTo>
                  <a:pt x="4432376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2094">
            <a:off x="15680855" y="6168641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5" y="0"/>
                </a:lnTo>
                <a:lnTo>
                  <a:pt x="4432375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26652">
            <a:off x="-1187488" y="8010783"/>
            <a:ext cx="4432375" cy="3043428"/>
          </a:xfrm>
          <a:custGeom>
            <a:avLst/>
            <a:gdLst/>
            <a:ahLst/>
            <a:cxnLst/>
            <a:rect l="l" t="t" r="r" b="b"/>
            <a:pathLst>
              <a:path w="4432375" h="3043428">
                <a:moveTo>
                  <a:pt x="0" y="0"/>
                </a:moveTo>
                <a:lnTo>
                  <a:pt x="4432376" y="0"/>
                </a:lnTo>
                <a:lnTo>
                  <a:pt x="4432376" y="3043428"/>
                </a:lnTo>
                <a:lnTo>
                  <a:pt x="0" y="304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2985" y="790241"/>
            <a:ext cx="14053583" cy="7799739"/>
          </a:xfrm>
          <a:custGeom>
            <a:avLst/>
            <a:gdLst/>
            <a:ahLst/>
            <a:cxnLst/>
            <a:rect l="l" t="t" r="r" b="b"/>
            <a:pathLst>
              <a:path w="14053583" h="7799739">
                <a:moveTo>
                  <a:pt x="0" y="0"/>
                </a:moveTo>
                <a:lnTo>
                  <a:pt x="14053583" y="0"/>
                </a:lnTo>
                <a:lnTo>
                  <a:pt x="14053583" y="7799739"/>
                </a:lnTo>
                <a:lnTo>
                  <a:pt x="0" y="7799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07895">
            <a:off x="15144820" y="2012780"/>
            <a:ext cx="4891858" cy="3358926"/>
          </a:xfrm>
          <a:custGeom>
            <a:avLst/>
            <a:gdLst/>
            <a:ahLst/>
            <a:cxnLst/>
            <a:rect l="l" t="t" r="r" b="b"/>
            <a:pathLst>
              <a:path w="4891858" h="3358926">
                <a:moveTo>
                  <a:pt x="0" y="0"/>
                </a:moveTo>
                <a:lnTo>
                  <a:pt x="4891858" y="0"/>
                </a:lnTo>
                <a:lnTo>
                  <a:pt x="4891858" y="3358926"/>
                </a:lnTo>
                <a:lnTo>
                  <a:pt x="0" y="3358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7735362"/>
            <a:ext cx="1674897" cy="1645586"/>
          </a:xfrm>
          <a:custGeom>
            <a:avLst/>
            <a:gdLst/>
            <a:ahLst/>
            <a:cxnLst/>
            <a:rect l="l" t="t" r="r" b="b"/>
            <a:pathLst>
              <a:path w="1674897" h="1645586">
                <a:moveTo>
                  <a:pt x="0" y="0"/>
                </a:moveTo>
                <a:lnTo>
                  <a:pt x="1674897" y="0"/>
                </a:lnTo>
                <a:lnTo>
                  <a:pt x="1674897" y="1645586"/>
                </a:lnTo>
                <a:lnTo>
                  <a:pt x="0" y="1645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21042" y="226988"/>
            <a:ext cx="13995179" cy="7050072"/>
          </a:xfrm>
          <a:custGeom>
            <a:avLst/>
            <a:gdLst/>
            <a:ahLst/>
            <a:cxnLst/>
            <a:rect l="l" t="t" r="r" b="b"/>
            <a:pathLst>
              <a:path w="13995179" h="7050072">
                <a:moveTo>
                  <a:pt x="0" y="0"/>
                </a:moveTo>
                <a:lnTo>
                  <a:pt x="13995180" y="0"/>
                </a:lnTo>
                <a:lnTo>
                  <a:pt x="13995180" y="7050072"/>
                </a:lnTo>
                <a:lnTo>
                  <a:pt x="0" y="7050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782993" y="8043907"/>
            <a:ext cx="3227622" cy="1214393"/>
          </a:xfrm>
          <a:custGeom>
            <a:avLst/>
            <a:gdLst/>
            <a:ahLst/>
            <a:cxnLst/>
            <a:rect l="l" t="t" r="r" b="b"/>
            <a:pathLst>
              <a:path w="3227622" h="1214393">
                <a:moveTo>
                  <a:pt x="0" y="0"/>
                </a:moveTo>
                <a:lnTo>
                  <a:pt x="3227622" y="0"/>
                </a:lnTo>
                <a:lnTo>
                  <a:pt x="3227622" y="1214393"/>
                </a:lnTo>
                <a:lnTo>
                  <a:pt x="0" y="1214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211532" y="8146292"/>
            <a:ext cx="3792009" cy="1009622"/>
          </a:xfrm>
          <a:custGeom>
            <a:avLst/>
            <a:gdLst/>
            <a:ahLst/>
            <a:cxnLst/>
            <a:rect l="l" t="t" r="r" b="b"/>
            <a:pathLst>
              <a:path w="3792009" h="1009622">
                <a:moveTo>
                  <a:pt x="0" y="0"/>
                </a:moveTo>
                <a:lnTo>
                  <a:pt x="3792009" y="0"/>
                </a:lnTo>
                <a:lnTo>
                  <a:pt x="3792009" y="1009623"/>
                </a:lnTo>
                <a:lnTo>
                  <a:pt x="0" y="1009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653996" y="7701467"/>
            <a:ext cx="2928847" cy="1713376"/>
          </a:xfrm>
          <a:custGeom>
            <a:avLst/>
            <a:gdLst/>
            <a:ahLst/>
            <a:cxnLst/>
            <a:rect l="l" t="t" r="r" b="b"/>
            <a:pathLst>
              <a:path w="2928847" h="1713376">
                <a:moveTo>
                  <a:pt x="0" y="0"/>
                </a:moveTo>
                <a:lnTo>
                  <a:pt x="2928847" y="0"/>
                </a:lnTo>
                <a:lnTo>
                  <a:pt x="2928847" y="1713376"/>
                </a:lnTo>
                <a:lnTo>
                  <a:pt x="0" y="1713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6434" y="570938"/>
            <a:ext cx="16580199" cy="9098384"/>
          </a:xfrm>
          <a:custGeom>
            <a:avLst/>
            <a:gdLst/>
            <a:ahLst/>
            <a:cxnLst/>
            <a:rect l="l" t="t" r="r" b="b"/>
            <a:pathLst>
              <a:path w="16580199" h="9098384">
                <a:moveTo>
                  <a:pt x="0" y="0"/>
                </a:moveTo>
                <a:lnTo>
                  <a:pt x="16580198" y="0"/>
                </a:lnTo>
                <a:lnTo>
                  <a:pt x="16580198" y="9098384"/>
                </a:lnTo>
                <a:lnTo>
                  <a:pt x="0" y="9098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92" y="3479786"/>
            <a:ext cx="16106228" cy="49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357" lvl="1" indent="-334178" algn="just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This project successfully implemented a full-stack text-to-image generation system using the Stable Diffusion v1-5 pipeline, focusing on fine-tuning only the U-Net component while keeping the VAE and CLIP text encoder frozen. By adopting this parameter-efficient approach, the application achieved a strong balance between training speed and output quality.</a:t>
            </a:r>
          </a:p>
          <a:p>
            <a:pPr algn="just">
              <a:lnSpc>
                <a:spcPts val="4333"/>
              </a:lnSpc>
            </a:pPr>
            <a:endParaRPr lang="en-US" sz="3095">
              <a:solidFill>
                <a:srgbClr val="7C67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68357" lvl="1" indent="-334178" algn="just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C6751"/>
                </a:solidFill>
                <a:latin typeface="Poppins"/>
                <a:ea typeface="Poppins"/>
                <a:cs typeface="Poppins"/>
                <a:sym typeface="Poppins"/>
              </a:rPr>
              <a:t>Using Approach 3 (Stable Diffusion v1-5), we built an efficient full-stack text-to-image app by fine-tuning only the U-Net while keeping the VAE and text encoder frozen.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60101" y="1246882"/>
            <a:ext cx="8821893" cy="1313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8"/>
              </a:lnSpc>
              <a:spcBef>
                <a:spcPct val="0"/>
              </a:spcBef>
            </a:pPr>
            <a:r>
              <a:rPr lang="en-US" sz="7713">
                <a:solidFill>
                  <a:srgbClr val="7C6751"/>
                </a:solidFill>
                <a:latin typeface="Ansam"/>
                <a:ea typeface="Ansam"/>
                <a:cs typeface="Ansam"/>
                <a:sym typeface="Ansam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 rot="1481438">
            <a:off x="-1274195" y="-553344"/>
            <a:ext cx="3419642" cy="2348049"/>
          </a:xfrm>
          <a:custGeom>
            <a:avLst/>
            <a:gdLst/>
            <a:ahLst/>
            <a:cxnLst/>
            <a:rect l="l" t="t" r="r" b="b"/>
            <a:pathLst>
              <a:path w="3419642" h="2348049">
                <a:moveTo>
                  <a:pt x="0" y="0"/>
                </a:moveTo>
                <a:lnTo>
                  <a:pt x="3419642" y="0"/>
                </a:lnTo>
                <a:lnTo>
                  <a:pt x="3419642" y="2348049"/>
                </a:lnTo>
                <a:lnTo>
                  <a:pt x="0" y="2348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207895">
            <a:off x="15144820" y="722133"/>
            <a:ext cx="4891858" cy="3358926"/>
          </a:xfrm>
          <a:custGeom>
            <a:avLst/>
            <a:gdLst/>
            <a:ahLst/>
            <a:cxnLst/>
            <a:rect l="l" t="t" r="r" b="b"/>
            <a:pathLst>
              <a:path w="4891858" h="3358926">
                <a:moveTo>
                  <a:pt x="0" y="0"/>
                </a:moveTo>
                <a:lnTo>
                  <a:pt x="4891858" y="0"/>
                </a:lnTo>
                <a:lnTo>
                  <a:pt x="4891858" y="3358926"/>
                </a:lnTo>
                <a:lnTo>
                  <a:pt x="0" y="3358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753301" y="8641414"/>
            <a:ext cx="1674897" cy="1645586"/>
          </a:xfrm>
          <a:custGeom>
            <a:avLst/>
            <a:gdLst/>
            <a:ahLst/>
            <a:cxnLst/>
            <a:rect l="l" t="t" r="r" b="b"/>
            <a:pathLst>
              <a:path w="1674897" h="1645586">
                <a:moveTo>
                  <a:pt x="0" y="0"/>
                </a:moveTo>
                <a:lnTo>
                  <a:pt x="1674896" y="0"/>
                </a:lnTo>
                <a:lnTo>
                  <a:pt x="1674896" y="1645586"/>
                </a:lnTo>
                <a:lnTo>
                  <a:pt x="0" y="1645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469" y="4927707"/>
            <a:ext cx="11611063" cy="20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  <a:spcBef>
                <a:spcPct val="0"/>
              </a:spcBef>
            </a:pPr>
            <a:r>
              <a:rPr lang="en-US" sz="11900">
                <a:solidFill>
                  <a:srgbClr val="FEF9E4"/>
                </a:solidFill>
                <a:latin typeface="Ansam"/>
                <a:ea typeface="Ansam"/>
                <a:cs typeface="Ansam"/>
                <a:sym typeface="Ansam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94247" y="6892396"/>
            <a:ext cx="10499507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i="1">
                <a:solidFill>
                  <a:srgbClr val="FEF9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Great beginnings often lead to excellent outcomes.</a:t>
            </a:r>
          </a:p>
        </p:txBody>
      </p:sp>
      <p:sp>
        <p:nvSpPr>
          <p:cNvPr id="4" name="Freeform 4"/>
          <p:cNvSpPr/>
          <p:nvPr/>
        </p:nvSpPr>
        <p:spPr>
          <a:xfrm>
            <a:off x="7860687" y="2936769"/>
            <a:ext cx="2566626" cy="1762338"/>
          </a:xfrm>
          <a:custGeom>
            <a:avLst/>
            <a:gdLst/>
            <a:ahLst/>
            <a:cxnLst/>
            <a:rect l="l" t="t" r="r" b="b"/>
            <a:pathLst>
              <a:path w="2566626" h="1762338">
                <a:moveTo>
                  <a:pt x="0" y="0"/>
                </a:moveTo>
                <a:lnTo>
                  <a:pt x="2566626" y="0"/>
                </a:lnTo>
                <a:lnTo>
                  <a:pt x="2566626" y="1762338"/>
                </a:lnTo>
                <a:lnTo>
                  <a:pt x="0" y="1762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586</Words>
  <Application>Microsoft Macintosh PowerPoint</Application>
  <PresentationFormat>Custom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Calibri</vt:lpstr>
      <vt:lpstr>Poppins Italics</vt:lpstr>
      <vt:lpstr>ABeeZee</vt:lpstr>
      <vt:lpstr>Ansam</vt:lpstr>
      <vt:lpstr>Chunk Five</vt:lpstr>
      <vt:lpstr>Raleway</vt:lpstr>
      <vt:lpstr>Arial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Diffusion based Image Generation Web App</dc:title>
  <cp:lastModifiedBy>Sathwik Reddy Chelemela</cp:lastModifiedBy>
  <cp:revision>3</cp:revision>
  <dcterms:created xsi:type="dcterms:W3CDTF">2006-08-16T00:00:00Z</dcterms:created>
  <dcterms:modified xsi:type="dcterms:W3CDTF">2025-04-23T19:32:24Z</dcterms:modified>
  <dc:identifier>DAGlenifDDM</dc:identifier>
</cp:coreProperties>
</file>